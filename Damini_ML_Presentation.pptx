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3" r:id="rId7"/>
    <p:sldId id="261" r:id="rId8"/>
    <p:sldId id="262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4" d="100"/>
          <a:sy n="94" d="100"/>
        </p:scale>
        <p:origin x="9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508202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Hello everyone. My name is Damini, and my project is called </a:t>
            </a:r>
            <a:r>
              <a:rPr lang="en-US" b="1" dirty="0"/>
              <a:t>Explainable Network Intrusion Detection Using Machine Learning</a:t>
            </a:r>
            <a:r>
              <a:rPr lang="en-US" dirty="0"/>
              <a:t>. The goal was to build a system that can automatically detect whether network traffic is safe or malicious and explain </a:t>
            </a:r>
            <a:r>
              <a:rPr lang="en-US" i="1" dirty="0"/>
              <a:t>why</a:t>
            </a:r>
            <a:r>
              <a:rPr lang="en-US" dirty="0"/>
              <a:t> it made that decision.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 is a quick overview of what I will cover: the problem, the dataset, my methodology, the results, explainability with LIME, and finally my conclusion.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core problem is that network traffic is too large and fast for anyone to inspect manually. Traditional rule-based systems also fail to catch new types of attacks. On top of that, most machine learning models are black boxes, they give you an answer but no reason.</a:t>
            </a:r>
          </a:p>
          <a:p>
            <a:r>
              <a:rPr lang="en-US" dirty="0"/>
              <a:t>My project solves this using the </a:t>
            </a:r>
            <a:r>
              <a:rPr lang="en-US" b="1" dirty="0"/>
              <a:t>CIC-IDS2017 dataset</a:t>
            </a:r>
            <a:r>
              <a:rPr lang="en-US" dirty="0"/>
              <a:t> from the Canadian Institute for Cybersecurity. I loaded 8 CSV files containing real network traffic. After cleaning, removing duplicates, fixing missing values, and sampling 10% per chunk to manage memory, I ended up with </a:t>
            </a:r>
            <a:r>
              <a:rPr lang="en-US" b="1" dirty="0"/>
              <a:t>268,048 rows and 78 features</a:t>
            </a:r>
            <a:r>
              <a:rPr lang="en-US" dirty="0"/>
              <a:t>. I converted all the original attack labels into a simple binary target: </a:t>
            </a:r>
            <a:r>
              <a:rPr lang="en-US" b="1" dirty="0"/>
              <a:t>0 for Benign and 1 for Attack</a:t>
            </a:r>
            <a:r>
              <a:rPr lang="en-US" dirty="0"/>
              <a:t>. About 82% of the data was benign and 18% was attack traffic.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My code had main five steps: load and clean, encode and split, scale, tune, then train and evaluate.</a:t>
            </a:r>
          </a:p>
          <a:p>
            <a:r>
              <a:rPr lang="en-US" dirty="0"/>
              <a:t>I trained three models. </a:t>
            </a:r>
            <a:r>
              <a:rPr lang="en-US" b="1" dirty="0"/>
              <a:t>Logistic Regression</a:t>
            </a:r>
            <a:r>
              <a:rPr lang="en-US" dirty="0"/>
              <a:t> was my baseline. </a:t>
            </a:r>
            <a:r>
              <a:rPr lang="en-US" b="1" dirty="0"/>
              <a:t>Random Forest</a:t>
            </a:r>
            <a:r>
              <a:rPr lang="en-US" dirty="0"/>
              <a:t> was the first ensemble model. And </a:t>
            </a:r>
            <a:r>
              <a:rPr lang="en-US" b="1" dirty="0" err="1"/>
              <a:t>XGBoost</a:t>
            </a:r>
            <a:r>
              <a:rPr lang="en-US" dirty="0"/>
              <a:t> was the third. For tuning, I used </a:t>
            </a:r>
            <a:r>
              <a:rPr lang="en-US" dirty="0" err="1"/>
              <a:t>GridSearchCV</a:t>
            </a:r>
            <a:r>
              <a:rPr lang="en-US" dirty="0"/>
              <a:t> with 3-fold cross-validation, using F1-score as the metric because it balances precision and recall, both of which matter in security.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XGBoost</a:t>
            </a:r>
            <a:r>
              <a:rPr lang="en-US" dirty="0"/>
              <a:t> was the best model by every metric. It achieved </a:t>
            </a:r>
            <a:r>
              <a:rPr lang="en-US" b="1" dirty="0"/>
              <a:t>99.91% accuracy, 99.55% precision, 99.95% recall, and a perfect ROC-AUC of 1.0</a:t>
            </a:r>
            <a:r>
              <a:rPr lang="en-US" dirty="0"/>
              <a:t>. Most importantly, it missed only </a:t>
            </a:r>
            <a:r>
              <a:rPr lang="en-US" b="1" dirty="0"/>
              <a:t>5 attack flows</a:t>
            </a:r>
            <a:r>
              <a:rPr lang="en-US" dirty="0"/>
              <a:t> out of 9,712 in the test set. That is critical in intrusion detection because a missed attack is far more dangerous than a false alarm. Logistic Regression had decent recall but too many false positives. Random Forest was strong but </a:t>
            </a:r>
            <a:r>
              <a:rPr lang="en-US" dirty="0" err="1"/>
              <a:t>XGBoost</a:t>
            </a:r>
            <a:r>
              <a:rPr lang="en-US" dirty="0"/>
              <a:t> was best overall.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BBD41E-3112-8B7D-EA3E-7C0E22974C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0F8B38-05DA-F155-2A1B-6EFFFA58FD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16491BE-334E-414B-5CD2-ED0C648855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FF11D9-AC35-48F7-F31A-9CEBD087FE0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866886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used </a:t>
            </a:r>
            <a:r>
              <a:rPr lang="en-US" b="1" dirty="0"/>
              <a:t>LIME</a:t>
            </a:r>
            <a:r>
              <a:rPr lang="en-US" dirty="0"/>
              <a:t> (Local Interpretable Model-Agnostic Explanations) to explain individual predictions. LIME shows which features pushed a prediction toward Attack or Benign, and by how much.</a:t>
            </a:r>
          </a:p>
          <a:p>
            <a:r>
              <a:rPr lang="en-US" dirty="0"/>
              <a:t>For an attack flow, features like a high </a:t>
            </a:r>
            <a:r>
              <a:rPr lang="en-US" b="1" dirty="0" err="1"/>
              <a:t>Fwd</a:t>
            </a:r>
            <a:r>
              <a:rPr lang="en-US" b="1" dirty="0"/>
              <a:t> IAT Max</a:t>
            </a:r>
            <a:r>
              <a:rPr lang="en-US" dirty="0"/>
              <a:t> and large </a:t>
            </a:r>
            <a:r>
              <a:rPr lang="en-US" b="1" dirty="0"/>
              <a:t>min segment size</a:t>
            </a:r>
            <a:r>
              <a:rPr lang="en-US" dirty="0"/>
              <a:t> pushed the model toward Attack. For a benign flow, features like </a:t>
            </a:r>
            <a:r>
              <a:rPr lang="en-US" b="1" dirty="0"/>
              <a:t>low FIN Flag Count</a:t>
            </a:r>
            <a:r>
              <a:rPr lang="en-US" dirty="0"/>
              <a:t> and a high </a:t>
            </a:r>
            <a:r>
              <a:rPr lang="en-US" b="1" dirty="0"/>
              <a:t>Destination Port</a:t>
            </a:r>
            <a:r>
              <a:rPr lang="en-US" dirty="0"/>
              <a:t> pushed it toward Benign. This gives a security analyst a clear, readable reason for every decision.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wrap up: machine learning can classify network traffic with very high accuracy, and LIME makes those predictions understandable. </a:t>
            </a:r>
            <a:r>
              <a:rPr lang="en-US" dirty="0" err="1"/>
              <a:t>XGBoost</a:t>
            </a:r>
            <a:r>
              <a:rPr lang="en-US" dirty="0"/>
              <a:t> was the winner, missing only 5 attacks in over 53,000 test samples.</a:t>
            </a:r>
          </a:p>
          <a:p>
            <a:r>
              <a:rPr lang="en-US" dirty="0"/>
              <a:t>For future work, I would like to run this on the full dataset without sampling, try multi-class classification to identify the exact attack type, and build a live dashboard that shows the prediction, probability, and LIME explanation together.</a:t>
            </a:r>
          </a:p>
          <a:p>
            <a:r>
              <a:rPr lang="en-US" dirty="0"/>
              <a:t>Thank you.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858000" y="-914400"/>
            <a:ext cx="4572000" cy="4572000"/>
          </a:xfrm>
          <a:prstGeom prst="ellipse">
            <a:avLst/>
          </a:prstGeom>
          <a:solidFill>
            <a:srgbClr val="0A3A5A">
              <a:alpha val="40000"/>
            </a:srgbClr>
          </a:solidFill>
          <a:ln w="12700">
            <a:solidFill>
              <a:srgbClr val="0A3A5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498080" y="2560320"/>
            <a:ext cx="3200400" cy="3200400"/>
          </a:xfrm>
          <a:prstGeom prst="ellipse">
            <a:avLst/>
          </a:prstGeom>
          <a:solidFill>
            <a:srgbClr val="0A7EA4">
              <a:alpha val="25000"/>
            </a:srgbClr>
          </a:solidFill>
          <a:ln w="12700">
            <a:solidFill>
              <a:srgbClr val="0A7EA4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02920" y="1005840"/>
            <a:ext cx="2377440" cy="329184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100584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CSC 532 · MACHINE LEARNING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1463040"/>
            <a:ext cx="77724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kern="0" spc="-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Network</a:t>
            </a:r>
            <a:endParaRPr lang="en-US" sz="4200" dirty="0"/>
          </a:p>
          <a:p>
            <a:pPr marL="0" indent="0">
              <a:buNone/>
            </a:pPr>
            <a:r>
              <a:rPr lang="en-US" sz="4200" b="1" kern="0" spc="-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Intrusion Detection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457200" y="32004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3A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Machine Learning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57200" y="429768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Damini  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365760" y="370332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Overview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11480" y="1371600"/>
            <a:ext cx="4023360" cy="1024128"/>
          </a:xfrm>
          <a:prstGeom prst="rect">
            <a:avLst/>
          </a:prstGeom>
          <a:solidFill>
            <a:srgbClr val="FFFFFF"/>
          </a:solidFill>
          <a:ln w="6350">
            <a:solidFill>
              <a:srgbClr val="DC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11480" y="1371600"/>
            <a:ext cx="566928" cy="1024128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1371600"/>
            <a:ext cx="56692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69848" y="144475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</a:rPr>
              <a:t>Problem Definition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69848" y="1810512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7080"/>
                </a:solidFill>
              </a:rPr>
              <a:t>Why ML for intrusion detection? Project goals.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63440" y="1371600"/>
            <a:ext cx="4023360" cy="1024128"/>
          </a:xfrm>
          <a:prstGeom prst="rect">
            <a:avLst/>
          </a:prstGeom>
          <a:solidFill>
            <a:srgbClr val="FFFFFF"/>
          </a:solidFill>
          <a:ln w="6350">
            <a:solidFill>
              <a:srgbClr val="DC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663440" y="1371600"/>
            <a:ext cx="566928" cy="1024128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663440" y="1371600"/>
            <a:ext cx="56692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321808" y="144475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</a:rPr>
              <a:t>Dataset &amp; Preprocessing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321808" y="1810512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7080"/>
                </a:solidFill>
              </a:rPr>
              <a:t>CIC-IDS2017 · 78 features · cleaning pipeline.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11480" y="2560320"/>
            <a:ext cx="4023360" cy="1024128"/>
          </a:xfrm>
          <a:prstGeom prst="rect">
            <a:avLst/>
          </a:prstGeom>
          <a:solidFill>
            <a:srgbClr val="FFFFFF"/>
          </a:solidFill>
          <a:ln w="6350">
            <a:solidFill>
              <a:srgbClr val="DC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11480" y="2560320"/>
            <a:ext cx="566928" cy="1024128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11480" y="2560320"/>
            <a:ext cx="56692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69848" y="263347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</a:rPr>
              <a:t>Methodology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69848" y="2999232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7080"/>
                </a:solidFill>
              </a:rPr>
              <a:t>Logistic Regression · Random Forest · XGBoost.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63440" y="2560320"/>
            <a:ext cx="4023360" cy="1024128"/>
          </a:xfrm>
          <a:prstGeom prst="rect">
            <a:avLst/>
          </a:prstGeom>
          <a:solidFill>
            <a:srgbClr val="FFFFFF"/>
          </a:solidFill>
          <a:ln w="6350">
            <a:solidFill>
              <a:srgbClr val="DC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663440" y="2560320"/>
            <a:ext cx="566928" cy="1024128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663440" y="2560320"/>
            <a:ext cx="56692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321808" y="263347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</a:rPr>
              <a:t>Results &amp; Benchmarking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21808" y="2999232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7080"/>
                </a:solidFill>
              </a:rPr>
              <a:t>Accuracy, F1, ROC-AUC, confusion matrices.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11480" y="3749040"/>
            <a:ext cx="4023360" cy="1024128"/>
          </a:xfrm>
          <a:prstGeom prst="rect">
            <a:avLst/>
          </a:prstGeom>
          <a:solidFill>
            <a:srgbClr val="FFFFFF"/>
          </a:solidFill>
          <a:ln w="6350">
            <a:solidFill>
              <a:srgbClr val="DC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11480" y="3749040"/>
            <a:ext cx="566928" cy="1024128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11480" y="3749040"/>
            <a:ext cx="56692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05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069848" y="382219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</a:rPr>
              <a:t>Explainability with LIME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069848" y="4187952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7080"/>
                </a:solidFill>
              </a:rPr>
              <a:t>Per-prediction feature explanations.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663440" y="3749040"/>
            <a:ext cx="4023360" cy="1024128"/>
          </a:xfrm>
          <a:prstGeom prst="rect">
            <a:avLst/>
          </a:prstGeom>
          <a:solidFill>
            <a:srgbClr val="FFFFFF"/>
          </a:solidFill>
          <a:ln w="6350">
            <a:solidFill>
              <a:srgbClr val="DC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663440" y="3749040"/>
            <a:ext cx="566928" cy="1024128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663440" y="3749040"/>
            <a:ext cx="56692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06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5321808" y="382219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</a:rPr>
              <a:t>Conclusion &amp; Future Work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321808" y="4187952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7080"/>
                </a:solidFill>
              </a:rPr>
              <a:t>Key takeaways and next steps.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11480" y="594360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Definition &amp; Dataset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11480" y="1280160"/>
            <a:ext cx="3977640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DC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11480" y="1280160"/>
            <a:ext cx="3977640" cy="41148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1280160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THE CHALLENGE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1783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7EA4"/>
                </a:solidFill>
              </a:rPr>
              <a:t>Problems: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94360" y="2084832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74C3C"/>
                </a:solidFill>
              </a:rPr>
              <a:t>✗  </a:t>
            </a:r>
            <a:r>
              <a:rPr lang="en-US" sz="1000" dirty="0">
                <a:solidFill>
                  <a:srgbClr val="1A2A3A"/>
                </a:solidFill>
              </a:rPr>
              <a:t>Network traffic is too fast &amp; large for manual inspection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94360" y="2468880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74C3C"/>
                </a:solidFill>
              </a:rPr>
              <a:t>✗  </a:t>
            </a:r>
            <a:r>
              <a:rPr lang="en-US" sz="1000" dirty="0">
                <a:solidFill>
                  <a:srgbClr val="1A2A3A"/>
                </a:solidFill>
              </a:rPr>
              <a:t>Rule-based IDS miss novel or evolving attack behavior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94360" y="2852928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74C3C"/>
                </a:solidFill>
              </a:rPr>
              <a:t>✗  </a:t>
            </a:r>
            <a:r>
              <a:rPr lang="en-US" sz="1000" dirty="0">
                <a:solidFill>
                  <a:srgbClr val="1A2A3A"/>
                </a:solidFill>
              </a:rPr>
              <a:t>ML models are often black boxes — hard to trust or audit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94360" y="32735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4A76C"/>
                </a:solidFill>
              </a:rPr>
              <a:t>Project Goals: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94360" y="3566160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4A76C"/>
                </a:solidFill>
              </a:rPr>
              <a:t>✓  </a:t>
            </a:r>
            <a:r>
              <a:rPr lang="en-US" sz="1000" dirty="0">
                <a:solidFill>
                  <a:srgbClr val="1A2A3A"/>
                </a:solidFill>
              </a:rPr>
              <a:t>Binary classify flows: Benign (0) or Attack (1)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94360" y="3950208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4A76C"/>
                </a:solidFill>
              </a:rPr>
              <a:t>✓  </a:t>
            </a:r>
            <a:r>
              <a:rPr lang="en-US" sz="1000" dirty="0">
                <a:solidFill>
                  <a:srgbClr val="1A2A3A"/>
                </a:solidFill>
              </a:rPr>
              <a:t>Compare Logistic Regression, Random Forest &amp; XGBoost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94360" y="4334256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4A76C"/>
                </a:solidFill>
              </a:rPr>
              <a:t>✓  </a:t>
            </a:r>
            <a:r>
              <a:rPr lang="en-US" sz="1000" dirty="0">
                <a:solidFill>
                  <a:srgbClr val="1A2A3A"/>
                </a:solidFill>
              </a:rPr>
              <a:t>Add LIME explainability to each prediction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17720" y="1280160"/>
            <a:ext cx="4114800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DC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617720" y="1280160"/>
            <a:ext cx="4114800" cy="411480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617720" y="128016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CIC-IDS2017 DATASET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17720" y="1691640"/>
            <a:ext cx="4114800" cy="374904"/>
          </a:xfrm>
          <a:prstGeom prst="rect">
            <a:avLst/>
          </a:prstGeom>
          <a:solidFill>
            <a:srgbClr val="F5F9FC"/>
          </a:solidFill>
          <a:ln w="3810">
            <a:solidFill>
              <a:srgbClr val="E0EC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709160" y="1691640"/>
            <a:ext cx="12801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A7EA4"/>
                </a:solidFill>
              </a:rPr>
              <a:t>Source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989320" y="1691640"/>
            <a:ext cx="26517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A3A"/>
                </a:solidFill>
              </a:rPr>
              <a:t>Canadian Institute for Cybersecurity, UNB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617720" y="2066544"/>
            <a:ext cx="4114800" cy="374904"/>
          </a:xfrm>
          <a:prstGeom prst="rect">
            <a:avLst/>
          </a:prstGeom>
          <a:solidFill>
            <a:srgbClr val="FFFFFF"/>
          </a:solidFill>
          <a:ln w="3810">
            <a:solidFill>
              <a:srgbClr val="E0EC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709160" y="2066544"/>
            <a:ext cx="12801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A7EA4"/>
                </a:solidFill>
              </a:rPr>
              <a:t>Files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989320" y="2066544"/>
            <a:ext cx="26517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A3A"/>
                </a:solidFill>
              </a:rPr>
              <a:t>8 CSV files (weekday traffic)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617720" y="2441448"/>
            <a:ext cx="4114800" cy="374904"/>
          </a:xfrm>
          <a:prstGeom prst="rect">
            <a:avLst/>
          </a:prstGeom>
          <a:solidFill>
            <a:srgbClr val="F5F9FC"/>
          </a:solidFill>
          <a:ln w="3810">
            <a:solidFill>
              <a:srgbClr val="E0EC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709160" y="2441448"/>
            <a:ext cx="12801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A7EA4"/>
                </a:solidFill>
              </a:rPr>
              <a:t>Rows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989320" y="2441448"/>
            <a:ext cx="26517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A3A"/>
                </a:solidFill>
              </a:rPr>
              <a:t>268,048 (after 10% chunk sampling)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617720" y="2816352"/>
            <a:ext cx="4114800" cy="374904"/>
          </a:xfrm>
          <a:prstGeom prst="rect">
            <a:avLst/>
          </a:prstGeom>
          <a:solidFill>
            <a:srgbClr val="FFFFFF"/>
          </a:solidFill>
          <a:ln w="3810">
            <a:solidFill>
              <a:srgbClr val="E0EC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709160" y="2816352"/>
            <a:ext cx="12801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A7EA4"/>
                </a:solidFill>
              </a:rPr>
              <a:t>Features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989320" y="2816352"/>
            <a:ext cx="26517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A3A"/>
                </a:solidFill>
              </a:rPr>
              <a:t>78 numeric flow-level features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617720" y="3191256"/>
            <a:ext cx="4114800" cy="374904"/>
          </a:xfrm>
          <a:prstGeom prst="rect">
            <a:avLst/>
          </a:prstGeom>
          <a:solidFill>
            <a:srgbClr val="F5F9FC"/>
          </a:solidFill>
          <a:ln w="3810">
            <a:solidFill>
              <a:srgbClr val="E0EC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709160" y="3191256"/>
            <a:ext cx="12801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A7EA4"/>
                </a:solidFill>
              </a:rPr>
              <a:t>Task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989320" y="3191256"/>
            <a:ext cx="26517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A3A"/>
                </a:solidFill>
              </a:rPr>
              <a:t>Binary classification (Benign vs Attack)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617720" y="3566160"/>
            <a:ext cx="4114800" cy="374904"/>
          </a:xfrm>
          <a:prstGeom prst="rect">
            <a:avLst/>
          </a:prstGeom>
          <a:solidFill>
            <a:srgbClr val="FFFFFF"/>
          </a:solidFill>
          <a:ln w="3810">
            <a:solidFill>
              <a:srgbClr val="E0EC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709160" y="3566160"/>
            <a:ext cx="12801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A7EA4"/>
                </a:solidFill>
              </a:rPr>
              <a:t>Benign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989320" y="3566160"/>
            <a:ext cx="26517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A3A"/>
                </a:solidFill>
              </a:rPr>
              <a:t>219,486 flows  (81.88%)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617720" y="3941064"/>
            <a:ext cx="4114800" cy="374904"/>
          </a:xfrm>
          <a:prstGeom prst="rect">
            <a:avLst/>
          </a:prstGeom>
          <a:solidFill>
            <a:srgbClr val="F5F9FC"/>
          </a:solidFill>
          <a:ln w="3810">
            <a:solidFill>
              <a:srgbClr val="E0EC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709160" y="3941064"/>
            <a:ext cx="12801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A7EA4"/>
                </a:solidFill>
              </a:rPr>
              <a:t>Attack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5989320" y="3941064"/>
            <a:ext cx="26517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A3A"/>
                </a:solidFill>
              </a:rPr>
              <a:t>48,562 flows   (18.12%)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617720" y="4315968"/>
            <a:ext cx="4114800" cy="374904"/>
          </a:xfrm>
          <a:prstGeom prst="rect">
            <a:avLst/>
          </a:prstGeom>
          <a:solidFill>
            <a:srgbClr val="FFFFFF"/>
          </a:solidFill>
          <a:ln w="3810">
            <a:solidFill>
              <a:srgbClr val="E0EC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4709160" y="4315968"/>
            <a:ext cx="12801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A7EA4"/>
                </a:solidFill>
              </a:rPr>
              <a:t>Attack Types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5989320" y="4315968"/>
            <a:ext cx="26517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A3A"/>
                </a:solidFill>
              </a:rPr>
              <a:t>DoS, DDoS, PortScan, Botnet, WebAttack…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11480" y="498348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Pipeline &amp; Methodology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11480" y="1325880"/>
            <a:ext cx="1554480" cy="1417320"/>
          </a:xfrm>
          <a:prstGeom prst="rect">
            <a:avLst/>
          </a:prstGeom>
          <a:solidFill>
            <a:srgbClr val="FFFFFF"/>
          </a:solidFill>
          <a:ln w="15240">
            <a:solidFill>
              <a:srgbClr val="0A7EA4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11480" y="1325880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7EA4"/>
                </a:solidFill>
              </a:rPr>
              <a:t>Load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A7EA4"/>
                </a:solidFill>
              </a:rPr>
              <a:t>&amp; Clean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1984248"/>
            <a:ext cx="1554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A7080"/>
                </a:solidFill>
              </a:rPr>
              <a:t>8 CSVs · 50k-row chunks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5A7080"/>
                </a:solidFill>
              </a:rPr>
              <a:t>Drop dupes &amp; NaN · float32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1984248" y="2029968"/>
            <a:ext cx="146304" cy="0"/>
          </a:xfrm>
          <a:prstGeom prst="line">
            <a:avLst/>
          </a:prstGeom>
          <a:noFill/>
          <a:ln w="19050">
            <a:solidFill>
              <a:srgbClr val="0A7E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020824" y="1901952"/>
            <a:ext cx="109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7EA4"/>
                </a:solidFill>
              </a:rPr>
              <a:t>›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130552" y="1325880"/>
            <a:ext cx="1554480" cy="1417320"/>
          </a:xfrm>
          <a:prstGeom prst="rect">
            <a:avLst/>
          </a:prstGeom>
          <a:solidFill>
            <a:srgbClr val="FFFFFF"/>
          </a:solidFill>
          <a:ln w="15240">
            <a:solidFill>
              <a:srgbClr val="0A7EA4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130552" y="1325880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7EA4"/>
                </a:solidFill>
              </a:rPr>
              <a:t>Encode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A7EA4"/>
                </a:solidFill>
              </a:rPr>
              <a:t>&amp; Split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130552" y="1984248"/>
            <a:ext cx="1554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A7080"/>
                </a:solidFill>
              </a:rPr>
              <a:t>Binary label · 80/20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5A7080"/>
                </a:solidFill>
              </a:rPr>
              <a:t>Stratified split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703320" y="2029968"/>
            <a:ext cx="146304" cy="0"/>
          </a:xfrm>
          <a:prstGeom prst="line">
            <a:avLst/>
          </a:prstGeom>
          <a:noFill/>
          <a:ln w="19050">
            <a:solidFill>
              <a:srgbClr val="0A7E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739896" y="1901952"/>
            <a:ext cx="109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7EA4"/>
                </a:solidFill>
              </a:rPr>
              <a:t>›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849624" y="1325880"/>
            <a:ext cx="1554480" cy="1417320"/>
          </a:xfrm>
          <a:prstGeom prst="rect">
            <a:avLst/>
          </a:prstGeom>
          <a:solidFill>
            <a:srgbClr val="FFFFFF"/>
          </a:solidFill>
          <a:ln w="15240">
            <a:solidFill>
              <a:srgbClr val="0A7EA4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849624" y="1325880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7EA4"/>
                </a:solidFill>
              </a:rPr>
              <a:t>Scale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A7EA4"/>
                </a:solidFill>
              </a:rPr>
              <a:t>(LR only)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849624" y="1984248"/>
            <a:ext cx="1554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A7080"/>
                </a:solidFill>
              </a:rPr>
              <a:t>StandardScaler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5A7080"/>
                </a:solidFill>
              </a:rPr>
              <a:t>for Logistic Regression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422392" y="2029968"/>
            <a:ext cx="146304" cy="0"/>
          </a:xfrm>
          <a:prstGeom prst="line">
            <a:avLst/>
          </a:prstGeom>
          <a:noFill/>
          <a:ln w="19050">
            <a:solidFill>
              <a:srgbClr val="0A7E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458968" y="1901952"/>
            <a:ext cx="109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7EA4"/>
                </a:solidFill>
              </a:rPr>
              <a:t>›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568696" y="1325880"/>
            <a:ext cx="1554480" cy="1417320"/>
          </a:xfrm>
          <a:prstGeom prst="rect">
            <a:avLst/>
          </a:prstGeom>
          <a:solidFill>
            <a:srgbClr val="FFFFFF"/>
          </a:solidFill>
          <a:ln w="15240">
            <a:solidFill>
              <a:srgbClr val="0A7EA4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568696" y="1325880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7EA4"/>
                </a:solidFill>
              </a:rPr>
              <a:t>Tune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A7EA4"/>
                </a:solidFill>
              </a:rPr>
              <a:t>(GridSearchCV)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568696" y="1984248"/>
            <a:ext cx="1554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A7080"/>
                </a:solidFill>
              </a:rPr>
              <a:t>3-fold CV · F1 metric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5A7080"/>
                </a:solidFill>
              </a:rPr>
              <a:t>30k-row sample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141464" y="2029968"/>
            <a:ext cx="146304" cy="0"/>
          </a:xfrm>
          <a:prstGeom prst="line">
            <a:avLst/>
          </a:prstGeom>
          <a:noFill/>
          <a:ln w="19050">
            <a:solidFill>
              <a:srgbClr val="0A7E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178040" y="1901952"/>
            <a:ext cx="109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7EA4"/>
                </a:solidFill>
              </a:rPr>
              <a:t>›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287768" y="1325880"/>
            <a:ext cx="1554480" cy="1417320"/>
          </a:xfrm>
          <a:prstGeom prst="rect">
            <a:avLst/>
          </a:prstGeom>
          <a:solidFill>
            <a:srgbClr val="0D1B3E"/>
          </a:solidFill>
          <a:ln w="15240">
            <a:solidFill>
              <a:srgbClr val="0D1B3E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287768" y="1325880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Train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&amp; Evaluate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287768" y="1984248"/>
            <a:ext cx="1554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0C8D8"/>
                </a:solidFill>
              </a:rPr>
              <a:t>Full training set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B0C8D8"/>
                </a:solidFill>
              </a:rPr>
              <a:t>Test metrics + LIME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11480" y="2926080"/>
            <a:ext cx="274320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C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11480" y="2926080"/>
            <a:ext cx="2743200" cy="40233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11480" y="2926080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Logistic Regression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21208" y="3364992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A3A"/>
                </a:solidFill>
              </a:rPr>
              <a:t>Best C = 10.0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21208" y="3703320"/>
            <a:ext cx="2523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7080"/>
                </a:solidFill>
              </a:rPr>
              <a:t>Baseline · Scaled features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21208" y="4059936"/>
            <a:ext cx="2523744" cy="585216"/>
          </a:xfrm>
          <a:prstGeom prst="rect">
            <a:avLst/>
          </a:prstGeom>
          <a:solidFill>
            <a:srgbClr val="F0F6FB"/>
          </a:solidFill>
          <a:ln w="3810">
            <a:solidFill>
              <a:srgbClr val="DC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521208" y="4059936"/>
            <a:ext cx="252374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A623"/>
                </a:solidFill>
              </a:rPr>
              <a:t>CV F1: 0.8263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337560" y="2926080"/>
            <a:ext cx="274320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C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3337560" y="2926080"/>
            <a:ext cx="2743200" cy="402336"/>
          </a:xfrm>
          <a:prstGeom prst="rect">
            <a:avLst/>
          </a:prstGeom>
          <a:solidFill>
            <a:srgbClr val="3ABFBF"/>
          </a:solidFill>
          <a:ln w="12700">
            <a:solidFill>
              <a:srgbClr val="3A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3337560" y="2926080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Random Forest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3447288" y="3364992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A3A"/>
                </a:solidFill>
              </a:rPr>
              <a:t>200 trees · depth=None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3447288" y="3703320"/>
            <a:ext cx="2523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7080"/>
                </a:solidFill>
              </a:rPr>
              <a:t>min_samples_leaf=2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3447288" y="4059936"/>
            <a:ext cx="2523744" cy="585216"/>
          </a:xfrm>
          <a:prstGeom prst="rect">
            <a:avLst/>
          </a:prstGeom>
          <a:solidFill>
            <a:srgbClr val="F0F6FB"/>
          </a:solidFill>
          <a:ln w="3810">
            <a:solidFill>
              <a:srgbClr val="DC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3447288" y="4059936"/>
            <a:ext cx="252374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ABFBF"/>
                </a:solidFill>
              </a:rPr>
              <a:t>CV F1: 0.9923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263640" y="2926080"/>
            <a:ext cx="274320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C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6263640" y="2926080"/>
            <a:ext cx="2743200" cy="402336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6263640" y="2926080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XGBoost ★ Best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373368" y="3364992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A3A"/>
                </a:solidFill>
              </a:rPr>
              <a:t>lr=0.2 · depth=4 · n=200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373368" y="3703320"/>
            <a:ext cx="2523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7080"/>
                </a:solidFill>
              </a:rPr>
              <a:t>subsample=0.8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6373368" y="4059936"/>
            <a:ext cx="2523744" cy="585216"/>
          </a:xfrm>
          <a:prstGeom prst="rect">
            <a:avLst/>
          </a:prstGeom>
          <a:solidFill>
            <a:srgbClr val="F0F6FB"/>
          </a:solidFill>
          <a:ln w="3810">
            <a:solidFill>
              <a:srgbClr val="DC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6373368" y="4059936"/>
            <a:ext cx="252374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7EA4"/>
                </a:solidFill>
              </a:rPr>
              <a:t>CV F1: 0.9954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228600" y="160316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Evaluation &amp; Benchmarking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02336" y="1157078"/>
            <a:ext cx="196596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02336" y="1157078"/>
            <a:ext cx="1965960" cy="109728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02336" y="1294238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D1B3E"/>
                </a:solidFill>
              </a:rPr>
              <a:t>99.91%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02336" y="1906886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A7080"/>
                </a:solidFill>
              </a:rPr>
              <a:t>Accuracy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478024" y="1157078"/>
            <a:ext cx="196596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478024" y="1157078"/>
            <a:ext cx="1965960" cy="109728"/>
          </a:xfrm>
          <a:prstGeom prst="rect">
            <a:avLst/>
          </a:prstGeom>
          <a:solidFill>
            <a:srgbClr val="3ABFBF"/>
          </a:solidFill>
          <a:ln w="12700">
            <a:solidFill>
              <a:srgbClr val="3A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478024" y="1294238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D1B3E"/>
                </a:solidFill>
              </a:rPr>
              <a:t>99.55%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478024" y="1906886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A7080"/>
                </a:solidFill>
              </a:rPr>
              <a:t>Precision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53712" y="1157078"/>
            <a:ext cx="196596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553712" y="1157078"/>
            <a:ext cx="1965960" cy="109728"/>
          </a:xfrm>
          <a:prstGeom prst="rect">
            <a:avLst/>
          </a:prstGeom>
          <a:solidFill>
            <a:srgbClr val="14A76C"/>
          </a:solidFill>
          <a:ln w="12700">
            <a:solidFill>
              <a:srgbClr val="14A76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53712" y="1294238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D1B3E"/>
                </a:solidFill>
              </a:rPr>
              <a:t>99.95%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4553712" y="1906886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A7080"/>
                </a:solidFill>
              </a:rPr>
              <a:t>Recall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629400" y="1157078"/>
            <a:ext cx="196596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629400" y="1157078"/>
            <a:ext cx="1965960" cy="10972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629400" y="1294238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D1B3E"/>
                </a:solidFill>
              </a:rPr>
              <a:t>99.75%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6629400" y="1906886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A7080"/>
                </a:solidFill>
              </a:rPr>
              <a:t>F1-Score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02336" y="928478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A7EA4"/>
                </a:solidFill>
              </a:rPr>
              <a:t>XGBoost (Best Model)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02336" y="2508581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B3E"/>
                </a:solidFill>
              </a:rPr>
              <a:t>Full Benchmark Comparison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11480" y="2944368"/>
            <a:ext cx="2377440" cy="347472"/>
          </a:xfrm>
          <a:prstGeom prst="rect">
            <a:avLst/>
          </a:prstGeom>
          <a:solidFill>
            <a:srgbClr val="0D1B3E"/>
          </a:solidFill>
          <a:ln w="3810">
            <a:solidFill>
              <a:srgbClr val="2A4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11480" y="294436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Model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788920" y="2944368"/>
            <a:ext cx="1188720" cy="347472"/>
          </a:xfrm>
          <a:prstGeom prst="rect">
            <a:avLst/>
          </a:prstGeom>
          <a:solidFill>
            <a:srgbClr val="0D1B3E"/>
          </a:solidFill>
          <a:ln w="3810">
            <a:solidFill>
              <a:srgbClr val="2A4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2788920" y="294436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Accuracy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977640" y="2944368"/>
            <a:ext cx="1188720" cy="347472"/>
          </a:xfrm>
          <a:prstGeom prst="rect">
            <a:avLst/>
          </a:prstGeom>
          <a:solidFill>
            <a:srgbClr val="0D1B3E"/>
          </a:solidFill>
          <a:ln w="3810">
            <a:solidFill>
              <a:srgbClr val="2A4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977640" y="294436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Precision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166360" y="2944368"/>
            <a:ext cx="1188720" cy="347472"/>
          </a:xfrm>
          <a:prstGeom prst="rect">
            <a:avLst/>
          </a:prstGeom>
          <a:solidFill>
            <a:srgbClr val="0D1B3E"/>
          </a:solidFill>
          <a:ln w="3810">
            <a:solidFill>
              <a:srgbClr val="2A4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166360" y="294436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Recall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355080" y="2944368"/>
            <a:ext cx="1188720" cy="347472"/>
          </a:xfrm>
          <a:prstGeom prst="rect">
            <a:avLst/>
          </a:prstGeom>
          <a:solidFill>
            <a:srgbClr val="0D1B3E"/>
          </a:solidFill>
          <a:ln w="3810">
            <a:solidFill>
              <a:srgbClr val="2A4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355080" y="294436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F1-Score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7543800" y="2944368"/>
            <a:ext cx="1554480" cy="347472"/>
          </a:xfrm>
          <a:prstGeom prst="rect">
            <a:avLst/>
          </a:prstGeom>
          <a:solidFill>
            <a:srgbClr val="0D1B3E"/>
          </a:solidFill>
          <a:ln w="3810">
            <a:solidFill>
              <a:srgbClr val="2A4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7543800" y="2944368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ROC-AUC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11480" y="3291840"/>
            <a:ext cx="2377440" cy="384048"/>
          </a:xfrm>
          <a:prstGeom prst="rect">
            <a:avLst/>
          </a:prstGeom>
          <a:solidFill>
            <a:srgbClr val="F0F6FC"/>
          </a:solidFill>
          <a:ln w="3810">
            <a:solidFill>
              <a:srgbClr val="DC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11480" y="3291840"/>
            <a:ext cx="2377440" cy="38404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D1B3E"/>
                </a:solidFill>
              </a:rPr>
              <a:t>Logistic Regression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2788920" y="3291840"/>
            <a:ext cx="1188720" cy="384048"/>
          </a:xfrm>
          <a:prstGeom prst="rect">
            <a:avLst/>
          </a:prstGeom>
          <a:solidFill>
            <a:srgbClr val="F0F6FC"/>
          </a:solidFill>
          <a:ln w="3810">
            <a:solidFill>
              <a:srgbClr val="DC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2788920" y="329184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A3A"/>
                </a:solidFill>
              </a:rPr>
              <a:t>93.31%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977640" y="3291840"/>
            <a:ext cx="1188720" cy="384048"/>
          </a:xfrm>
          <a:prstGeom prst="rect">
            <a:avLst/>
          </a:prstGeom>
          <a:solidFill>
            <a:srgbClr val="F0F6FC"/>
          </a:solidFill>
          <a:ln w="3810">
            <a:solidFill>
              <a:srgbClr val="DC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3977640" y="329184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A3A"/>
                </a:solidFill>
              </a:rPr>
              <a:t>73.67%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166360" y="3291840"/>
            <a:ext cx="1188720" cy="384048"/>
          </a:xfrm>
          <a:prstGeom prst="rect">
            <a:avLst/>
          </a:prstGeom>
          <a:solidFill>
            <a:srgbClr val="F0F6FC"/>
          </a:solidFill>
          <a:ln w="3810">
            <a:solidFill>
              <a:srgbClr val="DC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5166360" y="329184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A3A"/>
                </a:solidFill>
              </a:rPr>
              <a:t>98.19%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355080" y="3291840"/>
            <a:ext cx="1188720" cy="384048"/>
          </a:xfrm>
          <a:prstGeom prst="rect">
            <a:avLst/>
          </a:prstGeom>
          <a:solidFill>
            <a:srgbClr val="F0F6FC"/>
          </a:solidFill>
          <a:ln w="3810">
            <a:solidFill>
              <a:srgbClr val="DC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6355080" y="329184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A3A"/>
                </a:solidFill>
              </a:rPr>
              <a:t>84.18%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7543800" y="3291840"/>
            <a:ext cx="1554480" cy="384048"/>
          </a:xfrm>
          <a:prstGeom prst="rect">
            <a:avLst/>
          </a:prstGeom>
          <a:solidFill>
            <a:srgbClr val="F0F6FC"/>
          </a:solidFill>
          <a:ln w="3810">
            <a:solidFill>
              <a:srgbClr val="DC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7543800" y="329184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A3A"/>
                </a:solidFill>
              </a:rPr>
              <a:t>0.9859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11480" y="3675888"/>
            <a:ext cx="237744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DC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411480" y="3675888"/>
            <a:ext cx="2377440" cy="38404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D1B3E"/>
                </a:solidFill>
              </a:rPr>
              <a:t>Random Forest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2788920" y="3675888"/>
            <a:ext cx="118872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DC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2788920" y="367588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A3A"/>
                </a:solidFill>
              </a:rPr>
              <a:t>99.88%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3977640" y="3675888"/>
            <a:ext cx="118872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DC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3977640" y="367588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A3A"/>
                </a:solidFill>
              </a:rPr>
              <a:t>99.59%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5166360" y="3675888"/>
            <a:ext cx="118872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DC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5166360" y="367588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A3A"/>
                </a:solidFill>
              </a:rPr>
              <a:t>99.75%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6355080" y="3675888"/>
            <a:ext cx="118872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DC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6355080" y="367588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A3A"/>
                </a:solidFill>
              </a:rPr>
              <a:t>99.67%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7543800" y="3675888"/>
            <a:ext cx="155448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DC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7543800" y="367588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A3A"/>
                </a:solidFill>
              </a:rPr>
              <a:t>0.9999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411480" y="4059936"/>
            <a:ext cx="2377440" cy="384048"/>
          </a:xfrm>
          <a:prstGeom prst="rect">
            <a:avLst/>
          </a:prstGeom>
          <a:solidFill>
            <a:srgbClr val="E8F8F2"/>
          </a:solidFill>
          <a:ln w="3810">
            <a:solidFill>
              <a:srgbClr val="DC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411480" y="4059936"/>
            <a:ext cx="2377440" cy="38404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D1B3E"/>
                </a:solidFill>
              </a:rPr>
              <a:t>XGBoost ★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2788920" y="4059936"/>
            <a:ext cx="1188720" cy="384048"/>
          </a:xfrm>
          <a:prstGeom prst="rect">
            <a:avLst/>
          </a:prstGeom>
          <a:solidFill>
            <a:srgbClr val="E8F8F2"/>
          </a:solidFill>
          <a:ln w="3810">
            <a:solidFill>
              <a:srgbClr val="DC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2788920" y="4059936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4A76C"/>
                </a:solidFill>
              </a:rPr>
              <a:t>99.91%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3977640" y="4059936"/>
            <a:ext cx="1188720" cy="384048"/>
          </a:xfrm>
          <a:prstGeom prst="rect">
            <a:avLst/>
          </a:prstGeom>
          <a:solidFill>
            <a:srgbClr val="E8F8F2"/>
          </a:solidFill>
          <a:ln w="3810">
            <a:solidFill>
              <a:srgbClr val="DC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3977640" y="4059936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4A76C"/>
                </a:solidFill>
              </a:rPr>
              <a:t>99.55%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5166360" y="4059936"/>
            <a:ext cx="1188720" cy="384048"/>
          </a:xfrm>
          <a:prstGeom prst="rect">
            <a:avLst/>
          </a:prstGeom>
          <a:solidFill>
            <a:srgbClr val="E8F8F2"/>
          </a:solidFill>
          <a:ln w="3810">
            <a:solidFill>
              <a:srgbClr val="DC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5166360" y="4059936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4A76C"/>
                </a:solidFill>
              </a:rPr>
              <a:t>99.95%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6355080" y="4059936"/>
            <a:ext cx="1188720" cy="384048"/>
          </a:xfrm>
          <a:prstGeom prst="rect">
            <a:avLst/>
          </a:prstGeom>
          <a:solidFill>
            <a:srgbClr val="E8F8F2"/>
          </a:solidFill>
          <a:ln w="3810">
            <a:solidFill>
              <a:srgbClr val="DC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6355080" y="4059936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4A76C"/>
                </a:solidFill>
              </a:rPr>
              <a:t>99.75%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7543800" y="4059936"/>
            <a:ext cx="1554480" cy="384048"/>
          </a:xfrm>
          <a:prstGeom prst="rect">
            <a:avLst/>
          </a:prstGeom>
          <a:solidFill>
            <a:srgbClr val="E8F8F2"/>
          </a:solidFill>
          <a:ln w="3810">
            <a:solidFill>
              <a:srgbClr val="DC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Text 68"/>
          <p:cNvSpPr/>
          <p:nvPr/>
        </p:nvSpPr>
        <p:spPr>
          <a:xfrm>
            <a:off x="7543800" y="4059936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4A76C"/>
                </a:solidFill>
              </a:rPr>
              <a:t>1.0000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411480" y="4498848"/>
            <a:ext cx="8321040" cy="502920"/>
          </a:xfrm>
          <a:prstGeom prst="rect">
            <a:avLst/>
          </a:prstGeom>
          <a:solidFill>
            <a:srgbClr val="E8F8F2"/>
          </a:solidFill>
          <a:ln w="6350">
            <a:solidFill>
              <a:srgbClr val="A8E6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Text 70"/>
          <p:cNvSpPr/>
          <p:nvPr/>
        </p:nvSpPr>
        <p:spPr>
          <a:xfrm>
            <a:off x="594360" y="4498848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A3A"/>
                </a:solidFill>
              </a:rPr>
              <a:t>★  XGBoost missed only </a:t>
            </a:r>
            <a:r>
              <a:rPr lang="en-US" sz="1050" b="1" dirty="0">
                <a:solidFill>
                  <a:srgbClr val="14A76C"/>
                </a:solidFill>
              </a:rPr>
              <a:t>5 attack flows</a:t>
            </a:r>
            <a:r>
              <a:rPr lang="en-US" sz="1050" dirty="0">
                <a:solidFill>
                  <a:srgbClr val="1A2A3A"/>
                </a:solidFill>
              </a:rPr>
              <a:t> out of 9,712 in the test set — the lowest false-negative count of all models.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A66E783-1A05-F747-01F7-429111BB5B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A7B4AF7-218B-D52B-F16E-6B9BC497DC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773" y="699516"/>
            <a:ext cx="2495898" cy="4096322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96A5F28F-B361-14C4-BE32-17A1798219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23154" y="699516"/>
            <a:ext cx="6069545" cy="1841366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386280E3-3A14-9D8E-6E30-153E8031CA1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23154" y="2602619"/>
            <a:ext cx="2804088" cy="2351120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40A2F1F0-9C1A-38CC-0F15-F2B5C4ABBBB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7479" y="2606615"/>
            <a:ext cx="2705220" cy="2347124"/>
          </a:xfrm>
          <a:prstGeom prst="rect">
            <a:avLst/>
          </a:prstGeom>
        </p:spPr>
      </p:pic>
      <p:sp>
        <p:nvSpPr>
          <p:cNvPr id="55" name="Text 2">
            <a:extLst>
              <a:ext uri="{FF2B5EF4-FFF2-40B4-BE49-F238E27FC236}">
                <a16:creationId xmlns:a16="http://schemas.microsoft.com/office/drawing/2014/main" id="{629CEA6B-67AC-BF7F-F1B8-0CD4DAD4B06B}"/>
              </a:ext>
            </a:extLst>
          </p:cNvPr>
          <p:cNvSpPr/>
          <p:nvPr/>
        </p:nvSpPr>
        <p:spPr>
          <a:xfrm>
            <a:off x="228600" y="160316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Evaluation &amp; Benchmarking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0672436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99245" y="95798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 with LIME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755992"/>
            <a:ext cx="8321040" cy="512064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755992"/>
            <a:ext cx="8046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ABFBF"/>
                </a:solidFill>
              </a:rPr>
              <a:t>LIME </a:t>
            </a:r>
            <a:r>
              <a:rPr lang="en-US" sz="1050" dirty="0">
                <a:solidFill>
                  <a:srgbClr val="FFFFFF"/>
                </a:solidFill>
              </a:rPr>
              <a:t>(Local Interpretable Model-Agnostic Explanations) explains one prediction at a time by revealing which feature ranges pushed the model toward  </a:t>
            </a:r>
            <a:r>
              <a:rPr lang="en-US" sz="1050" b="1" dirty="0">
                <a:solidFill>
                  <a:srgbClr val="E74C3C"/>
                </a:solidFill>
              </a:rPr>
              <a:t>Attack</a:t>
            </a:r>
            <a:r>
              <a:rPr lang="en-US" sz="1050" dirty="0">
                <a:solidFill>
                  <a:srgbClr val="FFFFFF"/>
                </a:solidFill>
              </a:rPr>
              <a:t>  or  </a:t>
            </a:r>
            <a:r>
              <a:rPr lang="en-US" sz="1050" b="1" dirty="0">
                <a:solidFill>
                  <a:srgbClr val="14A76C"/>
                </a:solidFill>
              </a:rPr>
              <a:t>Benign</a:t>
            </a:r>
            <a:r>
              <a:rPr lang="en-US" sz="1050" dirty="0">
                <a:solidFill>
                  <a:srgbClr val="FFFFFF"/>
                </a:solidFill>
              </a:rPr>
              <a:t>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0040" y="1542771"/>
            <a:ext cx="4160520" cy="38404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20040" y="1542771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⚠  ATTACK FLOW  (p = 1.0000)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663440" y="1542771"/>
            <a:ext cx="3977640" cy="384048"/>
          </a:xfrm>
          <a:prstGeom prst="rect">
            <a:avLst/>
          </a:prstGeom>
          <a:solidFill>
            <a:srgbClr val="14A76C"/>
          </a:solidFill>
          <a:ln w="12700">
            <a:solidFill>
              <a:srgbClr val="14A76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663440" y="1542771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✓  BENIGN FLOW  (p = 0.0003)</a:t>
            </a:r>
            <a:endParaRPr lang="en-US" sz="1100" dirty="0"/>
          </a:p>
        </p:txBody>
      </p:sp>
      <p:pic>
        <p:nvPicPr>
          <p:cNvPr id="63" name="Picture 62">
            <a:extLst>
              <a:ext uri="{FF2B5EF4-FFF2-40B4-BE49-F238E27FC236}">
                <a16:creationId xmlns:a16="http://schemas.microsoft.com/office/drawing/2014/main" id="{05453FB5-E3E3-54A3-4F34-59EEA4A605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997899"/>
            <a:ext cx="3758481" cy="2711196"/>
          </a:xfrm>
          <a:prstGeom prst="rect">
            <a:avLst/>
          </a:prstGeom>
        </p:spPr>
      </p:pic>
      <p:pic>
        <p:nvPicPr>
          <p:cNvPr id="65" name="Picture 64">
            <a:extLst>
              <a:ext uri="{FF2B5EF4-FFF2-40B4-BE49-F238E27FC236}">
                <a16:creationId xmlns:a16="http://schemas.microsoft.com/office/drawing/2014/main" id="{D1D7E5FF-331A-511C-6E56-237559B99C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1161" y="1997899"/>
            <a:ext cx="3637684" cy="271119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943600" y="2286000"/>
            <a:ext cx="4572000" cy="4572000"/>
          </a:xfrm>
          <a:prstGeom prst="ellipse">
            <a:avLst/>
          </a:prstGeom>
          <a:solidFill>
            <a:srgbClr val="0A3A5A">
              <a:alpha val="45000"/>
            </a:srgbClr>
          </a:solidFill>
          <a:ln w="12700">
            <a:solidFill>
              <a:srgbClr val="0A3A5A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Work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115568"/>
            <a:ext cx="6217920" cy="585216"/>
          </a:xfrm>
          <a:prstGeom prst="rect">
            <a:avLst/>
          </a:prstGeom>
          <a:solidFill>
            <a:srgbClr val="0A3A5A">
              <a:alpha val="80000"/>
            </a:srgbClr>
          </a:solidFill>
          <a:ln w="10160">
            <a:solidFill>
              <a:srgbClr val="0A7E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1115568"/>
            <a:ext cx="5943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ABFBF"/>
                </a:solidFill>
              </a:rPr>
              <a:t>★  </a:t>
            </a:r>
            <a:r>
              <a:rPr lang="en-US" sz="1100" dirty="0">
                <a:solidFill>
                  <a:srgbClr val="FFFFFF"/>
                </a:solidFill>
              </a:rPr>
              <a:t>XGBoost: 99.91% accuracy · only 5 missed attacks · ROC-AUC = 1.0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801368"/>
            <a:ext cx="6217920" cy="585216"/>
          </a:xfrm>
          <a:prstGeom prst="rect">
            <a:avLst/>
          </a:prstGeom>
          <a:solidFill>
            <a:srgbClr val="0A3A5A">
              <a:alpha val="80000"/>
            </a:srgbClr>
          </a:solidFill>
          <a:ln w="10160">
            <a:solidFill>
              <a:srgbClr val="0A7E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1801368"/>
            <a:ext cx="5943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ABFBF"/>
                </a:solidFill>
              </a:rPr>
              <a:t>◈  </a:t>
            </a:r>
            <a:r>
              <a:rPr lang="en-US" sz="1100" dirty="0">
                <a:solidFill>
                  <a:srgbClr val="FFFFFF"/>
                </a:solidFill>
              </a:rPr>
              <a:t>Packet length &amp; timing features are the most discriminative signals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487168"/>
            <a:ext cx="6217920" cy="585216"/>
          </a:xfrm>
          <a:prstGeom prst="rect">
            <a:avLst/>
          </a:prstGeom>
          <a:solidFill>
            <a:srgbClr val="0A3A5A">
              <a:alpha val="80000"/>
            </a:srgbClr>
          </a:solidFill>
          <a:ln w="10160">
            <a:solidFill>
              <a:srgbClr val="0A7E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0080" y="2487168"/>
            <a:ext cx="5943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ABFBF"/>
                </a:solidFill>
              </a:rPr>
              <a:t>◉  </a:t>
            </a:r>
            <a:r>
              <a:rPr lang="en-US" sz="1100" dirty="0">
                <a:solidFill>
                  <a:srgbClr val="FFFFFF"/>
                </a:solidFill>
              </a:rPr>
              <a:t>LIME provides reviewable, per-prediction explanations for analysts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3218688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ABFBF"/>
                </a:solidFill>
              </a:rPr>
              <a:t>Future Work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3566160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A7EA4"/>
                </a:solidFill>
              </a:rPr>
              <a:t>→  </a:t>
            </a:r>
            <a:r>
              <a:rPr lang="en-US" sz="950" dirty="0">
                <a:solidFill>
                  <a:srgbClr val="B0C8D8"/>
                </a:solidFill>
              </a:rPr>
              <a:t>Run on full CIC-IDS2017 dataset (no sampling) with more memory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48640" y="3858768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A7EA4"/>
                </a:solidFill>
              </a:rPr>
              <a:t>→  </a:t>
            </a:r>
            <a:r>
              <a:rPr lang="en-US" sz="950" dirty="0">
                <a:solidFill>
                  <a:srgbClr val="B0C8D8"/>
                </a:solidFill>
              </a:rPr>
              <a:t>Multi-class classification to predict exact attack type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48640" y="4151376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A7EA4"/>
                </a:solidFill>
              </a:rPr>
              <a:t>→  </a:t>
            </a:r>
            <a:r>
              <a:rPr lang="en-US" sz="950" dirty="0">
                <a:solidFill>
                  <a:srgbClr val="B0C8D8"/>
                </a:solidFill>
              </a:rPr>
              <a:t>Cross-dataset validation for generalization testing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48640" y="4443984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A7EA4"/>
                </a:solidFill>
              </a:rPr>
              <a:t>→  </a:t>
            </a:r>
            <a:r>
              <a:rPr lang="en-US" sz="950" dirty="0">
                <a:solidFill>
                  <a:srgbClr val="B0C8D8"/>
                </a:solidFill>
              </a:rPr>
              <a:t>Compare LIME vs SHAP for explanation stability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48640" y="4736592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A7EA4"/>
                </a:solidFill>
              </a:rPr>
              <a:t>→  </a:t>
            </a:r>
            <a:r>
              <a:rPr lang="en-US" sz="950" dirty="0">
                <a:solidFill>
                  <a:srgbClr val="B0C8D8"/>
                </a:solidFill>
              </a:rPr>
              <a:t>Build a live dashboard: class label + probability + LIME explanation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675120" y="1097280"/>
            <a:ext cx="2103120" cy="3474720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675120" y="173736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Thank</a:t>
            </a:r>
            <a:endParaRPr lang="en-US" sz="2600" dirty="0"/>
          </a:p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You!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6675120" y="329184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D0F0F8"/>
                </a:solidFill>
              </a:rPr>
              <a:t>Damini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160</TotalTime>
  <Words>1129</Words>
  <Application>Microsoft Office PowerPoint</Application>
  <PresentationFormat>On-screen Show (16:9)</PresentationFormat>
  <Paragraphs>162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Explainable Network Intrusion Detection Using ML</dc:title>
  <dc:subject>PptxGenJS Presentation</dc:subject>
  <dc:creator>Damini</dc:creator>
  <cp:lastModifiedBy>Damini Damini</cp:lastModifiedBy>
  <cp:revision>6</cp:revision>
  <dcterms:created xsi:type="dcterms:W3CDTF">2026-05-09T00:02:41Z</dcterms:created>
  <dcterms:modified xsi:type="dcterms:W3CDTF">2026-05-14T20:24:49Z</dcterms:modified>
</cp:coreProperties>
</file>